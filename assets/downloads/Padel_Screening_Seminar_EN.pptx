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162" d="100"/>
          <a:sy n="162" d="100"/>
        </p:scale>
        <p:origin x="74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476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600000">
            <a:off x="-843455" y="-835572"/>
            <a:ext cx="4572000" cy="7315200"/>
          </a:xfrm>
          <a:prstGeom prst="rect">
            <a:avLst/>
          </a:prstGeom>
          <a:solidFill>
            <a:srgbClr val="1A1F3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Hard.</a:t>
            </a:r>
            <a:endParaRPr lang="en-US" sz="4200" dirty="0"/>
          </a:p>
          <a:p>
            <a:pPr marL="0" indent="0">
              <a:buNone/>
            </a:pPr>
            <a:r>
              <a:rPr lang="en-US" sz="4200" b="1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Smart.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Uninjured.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&amp; Performance for </a:t>
            </a:r>
            <a:r>
              <a:rPr lang="en-US" sz="130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 Players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pic>
        <p:nvPicPr>
          <p:cNvPr id="8" name="Image 20" descr="preencoded.png">
            <a:extLst>
              <a:ext uri="{FF2B5EF4-FFF2-40B4-BE49-F238E27FC236}">
                <a16:creationId xmlns:a16="http://schemas.microsoft.com/office/drawing/2014/main" id="{D977DA56-A3BB-F544-637D-09D8EDC31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808" y="1387365"/>
            <a:ext cx="2917829" cy="16412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MEDICAL DISCLAIMER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30175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72237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guide is for educational and informational purposes only.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constitute medical advice, diagnosis, or treatment. Always consult a qualified healthcare professional before starting any new exercise programme or if you are experiencing pain or injury.</a:t>
            </a:r>
            <a:endParaRPr lang="en-US" sz="14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authors accept no liability for any injury, loss, or damage arising from the use or misuse of the information provided.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in pain, stop training and seek professional advice.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Photo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Antonis Petri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Lead Clinician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Right Track Physiotherapy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Physiotherapy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Orthopaedic Rehab Specialist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840480" y="457200"/>
            <a:ext cx="36576" cy="411480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005840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Patterns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252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&amp; why padel players break down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06240" y="1719072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Protocol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965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10-minute joint protection routine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06240" y="2432304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386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Protection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26791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Shoulder, elbow, knee &amp; ankle care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3145536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0998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Strategy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0" y="33924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Sleep, load, active recovery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06240" y="3858768"/>
            <a:ext cx="411480" cy="411480"/>
          </a:xfrm>
          <a:prstGeom prst="line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3813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41056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stop playing immediately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1F049A3-5B16-9DD1-DDF5-10F724B87F6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8444" y="825167"/>
            <a:ext cx="2135833" cy="2399812"/>
          </a:xfrm>
          <a:prstGeom prst="rect">
            <a:avLst/>
          </a:prstGeom>
        </p:spPr>
      </p:pic>
      <p:sp>
        <p:nvSpPr>
          <p:cNvPr id="33" name="Shape 19">
            <a:extLst>
              <a:ext uri="{FF2B5EF4-FFF2-40B4-BE49-F238E27FC236}">
                <a16:creationId xmlns:a16="http://schemas.microsoft.com/office/drawing/2014/main" id="{C2B137AF-243E-4809-ED70-5C941AA1659F}"/>
              </a:ext>
            </a:extLst>
          </p:cNvPr>
          <p:cNvSpPr/>
          <p:nvPr/>
        </p:nvSpPr>
        <p:spPr>
          <a:xfrm>
            <a:off x="7772400" y="457200"/>
            <a:ext cx="1188720" cy="1828800"/>
          </a:xfrm>
          <a:prstGeom prst="rect">
            <a:avLst/>
          </a:prstGeom>
          <a:solidFill>
            <a:srgbClr val="172A3A"/>
          </a:solidFill>
          <a:ln/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34" name="Image 26" descr="preencoded.png">
            <a:extLst>
              <a:ext uri="{FF2B5EF4-FFF2-40B4-BE49-F238E27FC236}">
                <a16:creationId xmlns:a16="http://schemas.microsoft.com/office/drawing/2014/main" id="{A8366F82-E56C-FBF1-986B-7AA161E368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594360"/>
            <a:ext cx="1005840" cy="1005840"/>
          </a:xfrm>
          <a:prstGeom prst="rect">
            <a:avLst/>
          </a:prstGeom>
        </p:spPr>
      </p:pic>
      <p:sp>
        <p:nvSpPr>
          <p:cNvPr id="35" name="Text 20">
            <a:extLst>
              <a:ext uri="{FF2B5EF4-FFF2-40B4-BE49-F238E27FC236}">
                <a16:creationId xmlns:a16="http://schemas.microsoft.com/office/drawing/2014/main" id="{C51C2ECE-4F0F-7561-2FE3-EEAE16217043}"/>
              </a:ext>
            </a:extLst>
          </p:cNvPr>
          <p:cNvSpPr/>
          <p:nvPr/>
        </p:nvSpPr>
        <p:spPr>
          <a:xfrm>
            <a:off x="7772400" y="1645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5D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Profile</a:t>
            </a:r>
            <a:endParaRPr lang="en-US" sz="700" dirty="0"/>
          </a:p>
        </p:txBody>
      </p:sp>
      <p:pic>
        <p:nvPicPr>
          <p:cNvPr id="36" name="Image 21" descr="preencoded.png">
            <a:extLst>
              <a:ext uri="{FF2B5EF4-FFF2-40B4-BE49-F238E27FC236}">
                <a16:creationId xmlns:a16="http://schemas.microsoft.com/office/drawing/2014/main" id="{D27C3516-BCBC-A040-14B2-1EBFC1F44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2374" y="1080726"/>
            <a:ext cx="320040" cy="320040"/>
          </a:xfrm>
          <a:prstGeom prst="rect">
            <a:avLst/>
          </a:prstGeom>
        </p:spPr>
      </p:pic>
      <p:pic>
        <p:nvPicPr>
          <p:cNvPr id="37" name="Image 22" descr="preencoded.png">
            <a:extLst>
              <a:ext uri="{FF2B5EF4-FFF2-40B4-BE49-F238E27FC236}">
                <a16:creationId xmlns:a16="http://schemas.microsoft.com/office/drawing/2014/main" id="{10248458-C264-E3B0-7D17-2AAA57B25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2374" y="1788598"/>
            <a:ext cx="320040" cy="320040"/>
          </a:xfrm>
          <a:prstGeom prst="rect">
            <a:avLst/>
          </a:prstGeom>
        </p:spPr>
      </p:pic>
      <p:pic>
        <p:nvPicPr>
          <p:cNvPr id="38" name="Image 23" descr="preencoded.png">
            <a:extLst>
              <a:ext uri="{FF2B5EF4-FFF2-40B4-BE49-F238E27FC236}">
                <a16:creationId xmlns:a16="http://schemas.microsoft.com/office/drawing/2014/main" id="{89B6D6EC-BA89-C239-0AB8-A26A32ADC5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2374" y="2496470"/>
            <a:ext cx="320040" cy="320040"/>
          </a:xfrm>
          <a:prstGeom prst="rect">
            <a:avLst/>
          </a:prstGeom>
        </p:spPr>
      </p:pic>
      <p:pic>
        <p:nvPicPr>
          <p:cNvPr id="39" name="Image 24" descr="preencoded.png">
            <a:extLst>
              <a:ext uri="{FF2B5EF4-FFF2-40B4-BE49-F238E27FC236}">
                <a16:creationId xmlns:a16="http://schemas.microsoft.com/office/drawing/2014/main" id="{E60E93A6-BE1B-4DEE-1BA2-0A8FD287AF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2374" y="3204342"/>
            <a:ext cx="320040" cy="320040"/>
          </a:xfrm>
          <a:prstGeom prst="rect">
            <a:avLst/>
          </a:prstGeom>
        </p:spPr>
      </p:pic>
      <p:pic>
        <p:nvPicPr>
          <p:cNvPr id="40" name="Image 25" descr="preencoded.png">
            <a:extLst>
              <a:ext uri="{FF2B5EF4-FFF2-40B4-BE49-F238E27FC236}">
                <a16:creationId xmlns:a16="http://schemas.microsoft.com/office/drawing/2014/main" id="{B2744DCF-2F5A-0D1B-C873-72DB78D9DB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2374" y="3912214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survey revealed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97480" cy="219456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pain or injury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last 12 months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463040"/>
            <a:ext cx="2697480" cy="219456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46304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7472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 through pain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changing anything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97480" cy="219456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6459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55080" y="26974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warm-up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playing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840480"/>
            <a:ext cx="54864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 of those who didn’t visit a physio said “it wasn’t serious enough”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4348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Right Track Padel Injury Survey, Cyprus 2026 (n=50+) — righttrackphysio.com.cy/blog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6596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2057400"/>
            <a:ext cx="5029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57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65176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injuries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patterns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racket sports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1920240"/>
            <a:ext cx="196596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2057400"/>
            <a:ext cx="5029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057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6517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43200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Pre-game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4320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preparation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playing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754880" y="1920240"/>
            <a:ext cx="196596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892040" y="2057400"/>
            <a:ext cx="5029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Text 14"/>
          <p:cNvSpPr/>
          <p:nvPr/>
        </p:nvSpPr>
        <p:spPr>
          <a:xfrm>
            <a:off x="4892040" y="2057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6517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92040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9204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Shoulder, elbow,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knee, ankle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903720" y="1920240"/>
            <a:ext cx="196596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040880" y="2057400"/>
            <a:ext cx="502920" cy="38404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19"/>
          <p:cNvSpPr/>
          <p:nvPr/>
        </p:nvSpPr>
        <p:spPr>
          <a:xfrm>
            <a:off x="7040880" y="2057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2651760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32918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40880" y="3931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like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5 most common padel injuries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414806" y="1745246"/>
            <a:ext cx="4846320" cy="475488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7" name="Shape 5"/>
          <p:cNvSpPr/>
          <p:nvPr/>
        </p:nvSpPr>
        <p:spPr>
          <a:xfrm>
            <a:off x="3414806" y="1745246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689126" y="174524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5046" y="174524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smashes &amp; serves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14806" y="2312174"/>
            <a:ext cx="4846320" cy="475488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1" name="Shape 9"/>
          <p:cNvSpPr/>
          <p:nvPr/>
        </p:nvSpPr>
        <p:spPr>
          <a:xfrm>
            <a:off x="3414806" y="2312174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3689126" y="231217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35046" y="231217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&amp; grip strain (padel elbow)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14806" y="2879102"/>
            <a:ext cx="4846320" cy="475488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5" name="Shape 13"/>
          <p:cNvSpPr/>
          <p:nvPr/>
        </p:nvSpPr>
        <p:spPr>
          <a:xfrm>
            <a:off x="3414806" y="2879102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3689126" y="287910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35046" y="287910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Off-center impacts &amp; flicks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14806" y="3446030"/>
            <a:ext cx="4846320" cy="475488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19" name="Shape 17"/>
          <p:cNvSpPr/>
          <p:nvPr/>
        </p:nvSpPr>
        <p:spPr>
          <a:xfrm>
            <a:off x="3414806" y="344603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3689126" y="344603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BACK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35046" y="344603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&amp; low lunges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14806" y="4012958"/>
            <a:ext cx="4846320" cy="475488"/>
          </a:xfrm>
          <a:prstGeom prst="rect">
            <a:avLst/>
          </a:prstGeom>
          <a:solidFill>
            <a:srgbClr val="222845"/>
          </a:solidFill>
          <a:ln/>
        </p:spPr>
      </p:sp>
      <p:sp>
        <p:nvSpPr>
          <p:cNvPr id="23" name="Shape 21"/>
          <p:cNvSpPr/>
          <p:nvPr/>
        </p:nvSpPr>
        <p:spPr>
          <a:xfrm>
            <a:off x="3414806" y="4012958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3689126" y="401295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/ ANKLE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5046" y="401295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changes of direction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6293222B-DA3C-9508-D419-82EED7910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427722"/>
            <a:ext cx="21717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padel injuries happen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Smash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impingement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rotator cuff stress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overhead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under 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82880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560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&amp; wrist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 overload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Off-center hits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 shock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2880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Movement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2560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&amp; ankle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ligament stress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direction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on court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03720" y="1828800"/>
            <a:ext cx="19659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0880" y="25603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&amp; muscle strain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 rotation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fatigue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56747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 flags — when your body says stop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965960" cy="23774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94560"/>
            <a:ext cx="640080" cy="640080"/>
          </a:xfrm>
          <a:prstGeom prst="line">
            <a:avLst/>
          </a:prstGeom>
          <a:solidFill>
            <a:srgbClr val="F9731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30428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Decline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Worse results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effort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920240"/>
            <a:ext cx="1965960" cy="23774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2194560"/>
            <a:ext cx="640080" cy="640080"/>
          </a:xfrm>
          <a:prstGeom prst="line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30428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9748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Sleep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69748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Insomnia or excessive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despite rest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920240"/>
            <a:ext cx="1965960" cy="23774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94960" y="2194560"/>
            <a:ext cx="640080" cy="640080"/>
          </a:xfrm>
          <a:prstGeom prst="line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30428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Fatigue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4632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rest days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03720" y="1920240"/>
            <a:ext cx="1965960" cy="23774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543800" y="2194560"/>
            <a:ext cx="640080" cy="640080"/>
          </a:xfrm>
          <a:prstGeom prst="line">
            <a:avLst/>
          </a:prstGeom>
          <a:solidFill>
            <a:srgbClr val="F9731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3528" y="230428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Pain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995160" y="3429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&gt; 7 days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improvement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minutes that save your joints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011680" cy="2560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011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56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5600" dirty="0"/>
          </a:p>
          <a:p>
            <a:pPr marL="0" indent="0" algn="ctr">
              <a:buNone/>
            </a:pPr>
            <a:endParaRPr lang="en-US" sz="5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</a:t>
            </a:r>
            <a:endParaRPr lang="en-US" sz="5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or training.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2834640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0" y="1828800"/>
            <a:ext cx="2834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5' Upper Body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08960" y="27432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Shoulder circles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Band pull-aparts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Wrist rotations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Scapular push-ups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2834640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0" y="1828800"/>
            <a:ext cx="28346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5' Lower Body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17920" y="27432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Hip circles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Lateral lunges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Leg swings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Ankle mobility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SHOULDER — ACTIVATION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shoulder routine for padel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Pull-Apart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15 reps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Scapular retraction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rhomboid activation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8036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12 reps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Rotator cuff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10 reps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Scapular 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range of motion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Push-Up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7804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10 reps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Serratus anterior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stabilization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&amp; WRIST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against padel elbow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3736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PRESSURE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1488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the racket at 4/10 pressure. Over-gripping is the #1 cause of elbow strain.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78892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2971800"/>
            <a:ext cx="5029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ECCENTRIC WRIST CURLS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3200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15 reps with a light dumbbell. Slowly lower the weight. Strengthens the forearm tendons.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840480"/>
            <a:ext cx="54864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FOREARM STRETCHES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25196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your arm, pull fingers back gently. Hold 30 sec per side. Before and after every session.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&amp; ANKLE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4-step lower body routine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8/side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 mobility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knee stability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9748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9748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88036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30 sec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Proprioception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control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Calf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15 reps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Achilles tendon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828800"/>
            <a:ext cx="196596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95160" y="19659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995160" y="22860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Single-Leg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RDL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178040" y="3063240"/>
            <a:ext cx="14173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3063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8/side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95160" y="356616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hip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hamstring activation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RECOVERY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like a professional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0574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257300" y="315468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25730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7–9 hours / night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recovery factor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828800"/>
            <a:ext cx="269748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0574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Management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137660" y="315468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0"/>
          <p:cNvSpPr/>
          <p:nvPr/>
        </p:nvSpPr>
        <p:spPr>
          <a:xfrm>
            <a:off x="413766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474720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increase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sudden spikes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how you feel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697480" cy="283464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05740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743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Recovery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018020" y="3154680"/>
            <a:ext cx="109728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5"/>
          <p:cNvSpPr/>
          <p:nvPr/>
        </p:nvSpPr>
        <p:spPr>
          <a:xfrm>
            <a:off x="701802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6355080" y="36118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movement after play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 &amp; foam rolling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passive rest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 BUSTING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works and what doesn't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74904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Reduces pain short-term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Helps after acute injury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Doesn't speed up healing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delay recovery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749040" cy="274320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28800"/>
            <a:ext cx="374904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STRETCHING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120640" y="2468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Increases ROM long-term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Reduces muscle stiffness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Doesn't prevent injuries alone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 pre-game = less power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you MUST stop playing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0040" y="1920240"/>
            <a:ext cx="1572768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920240"/>
            <a:ext cx="1572768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148840"/>
            <a:ext cx="548640" cy="548640"/>
          </a:xfrm>
          <a:prstGeom prst="line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240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283464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Swelling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4747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inflammation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any joint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075688" y="1920240"/>
            <a:ext cx="1572768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075688" y="1920240"/>
            <a:ext cx="1572768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Shape 9"/>
          <p:cNvSpPr/>
          <p:nvPr/>
        </p:nvSpPr>
        <p:spPr>
          <a:xfrm>
            <a:off x="2587752" y="2148840"/>
            <a:ext cx="548640" cy="548640"/>
          </a:xfrm>
          <a:prstGeom prst="line">
            <a:avLst/>
          </a:prstGeom>
          <a:solidFill>
            <a:srgbClr val="EF4444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22402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21408" y="283464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121408" y="34747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loss of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 in a limb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831336" y="1920240"/>
            <a:ext cx="1572768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31336" y="1920240"/>
            <a:ext cx="1572768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4"/>
          <p:cNvSpPr/>
          <p:nvPr/>
        </p:nvSpPr>
        <p:spPr>
          <a:xfrm>
            <a:off x="4343400" y="2148840"/>
            <a:ext cx="548640" cy="548640"/>
          </a:xfrm>
          <a:prstGeom prst="line">
            <a:avLst/>
          </a:prstGeom>
          <a:solidFill>
            <a:srgbClr val="EF4444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40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877056" y="283464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Numbness /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Tingling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3877056" y="34747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&amp; needles 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sensation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586984" y="1920240"/>
            <a:ext cx="1572768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86984" y="1920240"/>
            <a:ext cx="1572768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19"/>
          <p:cNvSpPr/>
          <p:nvPr/>
        </p:nvSpPr>
        <p:spPr>
          <a:xfrm>
            <a:off x="6099048" y="2148840"/>
            <a:ext cx="548640" cy="548640"/>
          </a:xfrm>
          <a:prstGeom prst="line">
            <a:avLst/>
          </a:prstGeom>
          <a:solidFill>
            <a:srgbClr val="EF4444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2402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32704" y="283464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&gt; 7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632704" y="34747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improvement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342632" y="1920240"/>
            <a:ext cx="1572768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342632" y="1920240"/>
            <a:ext cx="1572768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Shape 24"/>
          <p:cNvSpPr/>
          <p:nvPr/>
        </p:nvSpPr>
        <p:spPr>
          <a:xfrm>
            <a:off x="7854696" y="2148840"/>
            <a:ext cx="548640" cy="548640"/>
          </a:xfrm>
          <a:prstGeom prst="line">
            <a:avLst/>
          </a:prstGeom>
          <a:solidFill>
            <a:srgbClr val="EF4444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6136" y="224028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388352" y="2834640"/>
            <a:ext cx="148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388352" y="347472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Compensating due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pain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0972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longer.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 better.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840480" y="3108960"/>
            <a:ext cx="146304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habits make the difference.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massage &amp; recovery available right here at the club.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8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ON-SITE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Massage at the Club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book elsewhere. Recovery sessions available between morning and evening training.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5303520" cy="457200"/>
          </a:xfrm>
          <a:prstGeom prst="rect">
            <a:avLst/>
          </a:prstGeom>
          <a:solidFill>
            <a:srgbClr val="14182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920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Massage — 30 min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25146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3035808"/>
            <a:ext cx="4754880" cy="9144"/>
          </a:xfrm>
          <a:prstGeom prst="rect">
            <a:avLst/>
          </a:prstGeom>
          <a:solidFill>
            <a:srgbClr val="2A315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Massage — 45 min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630168"/>
            <a:ext cx="4754880" cy="9144"/>
          </a:xfrm>
          <a:prstGeom prst="rect">
            <a:avLst/>
          </a:prstGeom>
          <a:solidFill>
            <a:srgbClr val="2A315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Massage — 60 min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3703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7920" y="1920240"/>
            <a:ext cx="2560320" cy="2560320"/>
          </a:xfrm>
          <a:prstGeom prst="rect">
            <a:avLst/>
          </a:prstGeom>
          <a:solidFill>
            <a:srgbClr val="222845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0" y="36576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righttrackphysio.com.cy</a:t>
            </a:r>
            <a:endParaRPr lang="en-US" sz="10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r>
              <a:rPr lang="en-US" sz="10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righttrackphysio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+357 99 126824</a:t>
            </a:r>
            <a:endParaRPr lang="en-US" sz="100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9779355-C150-0304-CE29-367BCE3A5C7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824207" y="2148840"/>
            <a:ext cx="1347746" cy="1549908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975</Words>
  <Application>Microsoft Macintosh PowerPoint</Application>
  <PresentationFormat>Экран (16:9)</PresentationFormat>
  <Paragraphs>311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Calibri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Padel Injury Prevention &amp; Performance</dc:title>
  <dc:subject>PptxGenJS Presentation</dc:subject>
  <dc:creator>Right Track Physiotherapy</dc:creator>
  <cp:lastModifiedBy>Ksenia Konstantinova</cp:lastModifiedBy>
  <cp:revision>2</cp:revision>
  <dcterms:created xsi:type="dcterms:W3CDTF">2026-04-08T20:57:38Z</dcterms:created>
  <dcterms:modified xsi:type="dcterms:W3CDTF">2026-04-08T22:50:12Z</dcterms:modified>
</cp:coreProperties>
</file>